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914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3" name="Text 1"/>
          <p:cNvSpPr/>
          <p:nvPr/>
        </p:nvSpPr>
        <p:spPr>
          <a:xfrm>
            <a:off x="858267" y="2424454"/>
            <a:ext cx="660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AgriCare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8267" y="3538844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the Backbone of Our 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8267" y="5137229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Smart Farming Ecosystem for the Modern Farmer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8267" y="5749730"/>
            <a:ext cx="1787823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8619551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Insights · Better Yields · Sustainable Future</a:t>
            </a:r>
            <a:endParaRPr lang="en-US" sz="1600" dirty="0"/>
          </a:p>
        </p:txBody>
      </p:sp>
      <p:pic>
        <p:nvPicPr>
          <p:cNvPr id="8" name="Image 0" descr="https://kimi-img.moonshot.cn/pub/slides/okc/7xetwg4mupbjm/mnt/agents/output/agricare/images/4_Scenic_Rural_Landscape_Sunset_Golden.png">    </p:cNvPr>
          <p:cNvPicPr>
            <a:picLocks noChangeAspect="1"/>
          </p:cNvPicPr>
          <p:nvPr/>
        </p:nvPicPr>
        <p:blipFill>
          <a:blip r:embed="rId1"/>
          <a:srcRect l="20333" r="20333" t="0" b="0"/>
          <a:stretch/>
        </p:blipFill>
        <p:spPr>
          <a:xfrm>
            <a:off x="8128000" y="0"/>
            <a:ext cx="8128000" cy="914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28000" y="0"/>
            <a:ext cx="8128000" cy="9144000"/>
          </a:xfrm>
          <a:prstGeom prst="rect">
            <a:avLst/>
          </a:prstGeom>
          <a:gradFill rotWithShape="1" flip="none">
            <a:gsLst>
              <a:gs pos="0">
                <a:srgbClr val="1A3632"/>
              </a:gs>
              <a:gs pos="30000">
                <a:srgbClr val="1A3632">
                  <a:alpha val="0"/>
                </a:srgbClr>
              </a:gs>
              <a:gs pos="100000">
                <a:srgbClr val="1A363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762000" y="6118609"/>
            <a:ext cx="7620000" cy="698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C2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May-2026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DC2B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Software Group Project (CEUP201)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04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14400" y="1219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914400" y="17780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272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 &amp; Our 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27200" y="2159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 &amp; Solution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416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14400" y="28956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895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Platform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7200" y="32766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Detection, Market Connect, Crop Calendar, Subsidies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7592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14400" y="40132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27200" y="401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Intelligence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27200" y="43942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AgriBot Assistant &amp; Technical 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876800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14400" y="51308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27200" y="5130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27200" y="55118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Roadmap &amp; Vision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6008433"/>
            <a:ext cx="14427200" cy="0"/>
          </a:xfrm>
          <a:prstGeom prst="straightConnector1">
            <a:avLst/>
          </a:prstGeom>
          <a:noFill/>
          <a:ln w="12700">
            <a:solidFill>
              <a:srgbClr val="E1E7E5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5124227" y="8593901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 / 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Critical Gaps Holding Back Gujarat's Farmers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7061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938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76200"/>
                </a:moveTo>
                <a:cubicBezTo>
                  <a:pt x="156448" y="76200"/>
                  <a:pt x="91123" y="104775"/>
                  <a:pt x="43101" y="151289"/>
                </a:cubicBezTo>
                <a:cubicBezTo>
                  <a:pt x="33020" y="161052"/>
                  <a:pt x="16907" y="160814"/>
                  <a:pt x="7223" y="150733"/>
                </a:cubicBezTo>
                <a:cubicBezTo>
                  <a:pt x="-2461" y="140653"/>
                  <a:pt x="-2302" y="124539"/>
                  <a:pt x="7779" y="114856"/>
                </a:cubicBezTo>
                <a:cubicBezTo>
                  <a:pt x="64849" y="59452"/>
                  <a:pt x="142796" y="25400"/>
                  <a:pt x="228600" y="25400"/>
                </a:cubicBezTo>
                <a:cubicBezTo>
                  <a:pt x="314404" y="25400"/>
                  <a:pt x="392351" y="59452"/>
                  <a:pt x="449501" y="114856"/>
                </a:cubicBezTo>
                <a:cubicBezTo>
                  <a:pt x="459581" y="124619"/>
                  <a:pt x="459819" y="140732"/>
                  <a:pt x="450056" y="150733"/>
                </a:cubicBezTo>
                <a:cubicBezTo>
                  <a:pt x="440293" y="160734"/>
                  <a:pt x="424180" y="161052"/>
                  <a:pt x="414179" y="151289"/>
                </a:cubicBezTo>
                <a:cubicBezTo>
                  <a:pt x="366077" y="104775"/>
                  <a:pt x="300752" y="76200"/>
                  <a:pt x="228600" y="76200"/>
                </a:cubicBezTo>
                <a:close/>
                <a:moveTo>
                  <a:pt x="190500" y="342900"/>
                </a:moveTo>
                <a:cubicBezTo>
                  <a:pt x="190500" y="321872"/>
                  <a:pt x="207572" y="304800"/>
                  <a:pt x="228600" y="304800"/>
                </a:cubicBezTo>
                <a:cubicBezTo>
                  <a:pt x="249628" y="304800"/>
                  <a:pt x="266700" y="321872"/>
                  <a:pt x="266700" y="342900"/>
                </a:cubicBezTo>
                <a:cubicBezTo>
                  <a:pt x="266700" y="363928"/>
                  <a:pt x="249628" y="381000"/>
                  <a:pt x="228600" y="381000"/>
                </a:cubicBezTo>
                <a:cubicBezTo>
                  <a:pt x="207572" y="381000"/>
                  <a:pt x="190500" y="363928"/>
                  <a:pt x="190500" y="342900"/>
                </a:cubicBezTo>
                <a:close/>
                <a:moveTo>
                  <a:pt x="133350" y="258921"/>
                </a:moveTo>
                <a:cubicBezTo>
                  <a:pt x="124063" y="269478"/>
                  <a:pt x="108029" y="270431"/>
                  <a:pt x="97473" y="261144"/>
                </a:cubicBezTo>
                <a:cubicBezTo>
                  <a:pt x="86916" y="251857"/>
                  <a:pt x="85963" y="235823"/>
                  <a:pt x="95250" y="225266"/>
                </a:cubicBezTo>
                <a:cubicBezTo>
                  <a:pt x="127794" y="188436"/>
                  <a:pt x="175498" y="165100"/>
                  <a:pt x="228600" y="165100"/>
                </a:cubicBezTo>
                <a:cubicBezTo>
                  <a:pt x="281702" y="165100"/>
                  <a:pt x="329406" y="188436"/>
                  <a:pt x="361950" y="225266"/>
                </a:cubicBezTo>
                <a:cubicBezTo>
                  <a:pt x="371237" y="235823"/>
                  <a:pt x="370205" y="251857"/>
                  <a:pt x="359728" y="261144"/>
                </a:cubicBezTo>
                <a:cubicBezTo>
                  <a:pt x="349250" y="270431"/>
                  <a:pt x="333137" y="269399"/>
                  <a:pt x="323850" y="258921"/>
                </a:cubicBezTo>
                <a:cubicBezTo>
                  <a:pt x="300514" y="232489"/>
                  <a:pt x="266541" y="215900"/>
                  <a:pt x="228600" y="215900"/>
                </a:cubicBezTo>
                <a:cubicBezTo>
                  <a:pt x="190659" y="215900"/>
                  <a:pt x="156686" y="232489"/>
                  <a:pt x="133350" y="25892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651000"/>
            <a:ext cx="589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2184400"/>
            <a:ext cx="645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real-time access to market prices and weather updates leaves farmers vulnerable to price exploitation and unpredictable climate events.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80400" y="1397000"/>
            <a:ext cx="7061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5852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4950" y="31750"/>
                </a:moveTo>
                <a:cubicBezTo>
                  <a:pt x="234950" y="14208"/>
                  <a:pt x="220742" y="0"/>
                  <a:pt x="203200" y="0"/>
                </a:cubicBezTo>
                <a:cubicBezTo>
                  <a:pt x="185658" y="0"/>
                  <a:pt x="171450" y="14208"/>
                  <a:pt x="171450" y="31750"/>
                </a:cubicBezTo>
                <a:cubicBezTo>
                  <a:pt x="171450" y="66754"/>
                  <a:pt x="129143" y="84217"/>
                  <a:pt x="104378" y="59531"/>
                </a:cubicBezTo>
                <a:cubicBezTo>
                  <a:pt x="91996" y="47149"/>
                  <a:pt x="71914" y="47149"/>
                  <a:pt x="59452" y="59531"/>
                </a:cubicBezTo>
                <a:cubicBezTo>
                  <a:pt x="46990" y="71914"/>
                  <a:pt x="47069" y="91996"/>
                  <a:pt x="59452" y="104458"/>
                </a:cubicBezTo>
                <a:cubicBezTo>
                  <a:pt x="84217" y="129223"/>
                  <a:pt x="66675" y="171529"/>
                  <a:pt x="31671" y="171529"/>
                </a:cubicBezTo>
                <a:cubicBezTo>
                  <a:pt x="14129" y="171529"/>
                  <a:pt x="-79" y="185738"/>
                  <a:pt x="-79" y="203279"/>
                </a:cubicBezTo>
                <a:cubicBezTo>
                  <a:pt x="-79" y="220821"/>
                  <a:pt x="14129" y="235029"/>
                  <a:pt x="31671" y="235029"/>
                </a:cubicBezTo>
                <a:cubicBezTo>
                  <a:pt x="66675" y="235029"/>
                  <a:pt x="84138" y="277336"/>
                  <a:pt x="59452" y="302101"/>
                </a:cubicBezTo>
                <a:cubicBezTo>
                  <a:pt x="47069" y="314484"/>
                  <a:pt x="47069" y="334566"/>
                  <a:pt x="59452" y="347028"/>
                </a:cubicBezTo>
                <a:cubicBezTo>
                  <a:pt x="71834" y="359489"/>
                  <a:pt x="91916" y="359410"/>
                  <a:pt x="104378" y="347028"/>
                </a:cubicBezTo>
                <a:cubicBezTo>
                  <a:pt x="129143" y="322263"/>
                  <a:pt x="171450" y="339804"/>
                  <a:pt x="171450" y="374809"/>
                </a:cubicBezTo>
                <a:cubicBezTo>
                  <a:pt x="171450" y="392351"/>
                  <a:pt x="185658" y="406559"/>
                  <a:pt x="203200" y="406559"/>
                </a:cubicBezTo>
                <a:cubicBezTo>
                  <a:pt x="220742" y="406559"/>
                  <a:pt x="234950" y="392351"/>
                  <a:pt x="234950" y="374809"/>
                </a:cubicBezTo>
                <a:cubicBezTo>
                  <a:pt x="234950" y="339804"/>
                  <a:pt x="277257" y="322342"/>
                  <a:pt x="302022" y="347028"/>
                </a:cubicBezTo>
                <a:cubicBezTo>
                  <a:pt x="314404" y="359410"/>
                  <a:pt x="334486" y="359410"/>
                  <a:pt x="346948" y="347028"/>
                </a:cubicBezTo>
                <a:cubicBezTo>
                  <a:pt x="359410" y="334645"/>
                  <a:pt x="359331" y="314563"/>
                  <a:pt x="346948" y="302101"/>
                </a:cubicBezTo>
                <a:cubicBezTo>
                  <a:pt x="322183" y="277336"/>
                  <a:pt x="339725" y="235029"/>
                  <a:pt x="374729" y="235029"/>
                </a:cubicBezTo>
                <a:cubicBezTo>
                  <a:pt x="392271" y="235029"/>
                  <a:pt x="406479" y="220821"/>
                  <a:pt x="406479" y="203279"/>
                </a:cubicBezTo>
                <a:cubicBezTo>
                  <a:pt x="406479" y="185738"/>
                  <a:pt x="392271" y="171529"/>
                  <a:pt x="374729" y="171529"/>
                </a:cubicBezTo>
                <a:cubicBezTo>
                  <a:pt x="339725" y="171529"/>
                  <a:pt x="322263" y="129223"/>
                  <a:pt x="346948" y="104458"/>
                </a:cubicBezTo>
                <a:cubicBezTo>
                  <a:pt x="359331" y="92075"/>
                  <a:pt x="359331" y="71993"/>
                  <a:pt x="346948" y="59531"/>
                </a:cubicBezTo>
                <a:cubicBezTo>
                  <a:pt x="334566" y="47069"/>
                  <a:pt x="314484" y="47149"/>
                  <a:pt x="302022" y="59531"/>
                </a:cubicBezTo>
                <a:cubicBezTo>
                  <a:pt x="277257" y="84217"/>
                  <a:pt x="234950" y="66754"/>
                  <a:pt x="234950" y="31750"/>
                </a:cubicBezTo>
                <a:close/>
                <a:moveTo>
                  <a:pt x="127000" y="177800"/>
                </a:moveTo>
                <a:cubicBezTo>
                  <a:pt x="127000" y="163781"/>
                  <a:pt x="138381" y="152400"/>
                  <a:pt x="152400" y="152400"/>
                </a:cubicBezTo>
                <a:cubicBezTo>
                  <a:pt x="166419" y="152400"/>
                  <a:pt x="177800" y="163781"/>
                  <a:pt x="177800" y="177800"/>
                </a:cubicBezTo>
                <a:cubicBezTo>
                  <a:pt x="177800" y="191819"/>
                  <a:pt x="166419" y="203200"/>
                  <a:pt x="152400" y="203200"/>
                </a:cubicBezTo>
                <a:cubicBezTo>
                  <a:pt x="138381" y="203200"/>
                  <a:pt x="127000" y="191819"/>
                  <a:pt x="127000" y="177800"/>
                </a:cubicBezTo>
                <a:close/>
                <a:moveTo>
                  <a:pt x="254000" y="203200"/>
                </a:moveTo>
                <a:cubicBezTo>
                  <a:pt x="268019" y="203200"/>
                  <a:pt x="279400" y="214581"/>
                  <a:pt x="279400" y="228600"/>
                </a:cubicBezTo>
                <a:cubicBezTo>
                  <a:pt x="279400" y="242619"/>
                  <a:pt x="268019" y="254000"/>
                  <a:pt x="254000" y="254000"/>
                </a:cubicBezTo>
                <a:cubicBezTo>
                  <a:pt x="239981" y="254000"/>
                  <a:pt x="228600" y="242619"/>
                  <a:pt x="228600" y="228600"/>
                </a:cubicBezTo>
                <a:cubicBezTo>
                  <a:pt x="228600" y="214581"/>
                  <a:pt x="239981" y="203200"/>
                  <a:pt x="254000" y="2032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1651000"/>
            <a:ext cx="589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85200" y="2184400"/>
            <a:ext cx="645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identification of crop diseases leads to significant harvest loss. Traditional methods rely on visual inspection, often too late for effective intervention.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953000"/>
            <a:ext cx="7061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70000" y="5207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69850" y="50800"/>
                </a:moveTo>
                <a:cubicBezTo>
                  <a:pt x="59293" y="50800"/>
                  <a:pt x="50800" y="59293"/>
                  <a:pt x="50800" y="69850"/>
                </a:cubicBezTo>
                <a:cubicBezTo>
                  <a:pt x="50800" y="80407"/>
                  <a:pt x="59293" y="88900"/>
                  <a:pt x="69850" y="88900"/>
                </a:cubicBezTo>
                <a:lnTo>
                  <a:pt x="107950" y="88900"/>
                </a:lnTo>
                <a:cubicBezTo>
                  <a:pt x="118507" y="88900"/>
                  <a:pt x="127000" y="80407"/>
                  <a:pt x="127000" y="69850"/>
                </a:cubicBezTo>
                <a:cubicBezTo>
                  <a:pt x="127000" y="59293"/>
                  <a:pt x="118507" y="50800"/>
                  <a:pt x="107950" y="50800"/>
                </a:cubicBezTo>
                <a:lnTo>
                  <a:pt x="69850" y="50800"/>
                </a:lnTo>
                <a:close/>
                <a:moveTo>
                  <a:pt x="69850" y="127000"/>
                </a:moveTo>
                <a:cubicBezTo>
                  <a:pt x="59293" y="127000"/>
                  <a:pt x="50800" y="135493"/>
                  <a:pt x="50800" y="146050"/>
                </a:cubicBezTo>
                <a:cubicBezTo>
                  <a:pt x="50800" y="156607"/>
                  <a:pt x="59293" y="165100"/>
                  <a:pt x="69850" y="165100"/>
                </a:cubicBezTo>
                <a:lnTo>
                  <a:pt x="107950" y="165100"/>
                </a:lnTo>
                <a:cubicBezTo>
                  <a:pt x="118507" y="165100"/>
                  <a:pt x="127000" y="156607"/>
                  <a:pt x="127000" y="146050"/>
                </a:cubicBezTo>
                <a:cubicBezTo>
                  <a:pt x="127000" y="135493"/>
                  <a:pt x="118507" y="127000"/>
                  <a:pt x="107950" y="127000"/>
                </a:cubicBezTo>
                <a:lnTo>
                  <a:pt x="69850" y="127000"/>
                </a:lnTo>
                <a:close/>
                <a:moveTo>
                  <a:pt x="125651" y="254000"/>
                </a:moveTo>
                <a:cubicBezTo>
                  <a:pt x="116681" y="254000"/>
                  <a:pt x="108268" y="258048"/>
                  <a:pt x="102711" y="265033"/>
                </a:cubicBezTo>
                <a:lnTo>
                  <a:pt x="55007" y="324644"/>
                </a:lnTo>
                <a:cubicBezTo>
                  <a:pt x="48419" y="332819"/>
                  <a:pt x="49768" y="344884"/>
                  <a:pt x="57944" y="351393"/>
                </a:cubicBezTo>
                <a:cubicBezTo>
                  <a:pt x="66119" y="357902"/>
                  <a:pt x="78184" y="356632"/>
                  <a:pt x="84693" y="348377"/>
                </a:cubicBezTo>
                <a:lnTo>
                  <a:pt x="122079" y="301704"/>
                </a:lnTo>
                <a:lnTo>
                  <a:pt x="134144" y="341947"/>
                </a:lnTo>
                <a:cubicBezTo>
                  <a:pt x="136525" y="350044"/>
                  <a:pt x="143986" y="355521"/>
                  <a:pt x="152400" y="355521"/>
                </a:cubicBezTo>
                <a:lnTo>
                  <a:pt x="234950" y="355521"/>
                </a:lnTo>
                <a:cubicBezTo>
                  <a:pt x="245507" y="355521"/>
                  <a:pt x="254000" y="347028"/>
                  <a:pt x="254000" y="336471"/>
                </a:cubicBezTo>
                <a:cubicBezTo>
                  <a:pt x="254000" y="325914"/>
                  <a:pt x="245507" y="317421"/>
                  <a:pt x="234950" y="317421"/>
                </a:cubicBezTo>
                <a:lnTo>
                  <a:pt x="166608" y="317421"/>
                </a:lnTo>
                <a:lnTo>
                  <a:pt x="153829" y="274876"/>
                </a:lnTo>
                <a:cubicBezTo>
                  <a:pt x="150098" y="262414"/>
                  <a:pt x="138668" y="253921"/>
                  <a:pt x="125651" y="253921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000" y="5207000"/>
            <a:ext cx="589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5740400"/>
            <a:ext cx="645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Difficulty in navigating complex government subsidy schemes means eligible farmers miss out on critical financial and equipment support.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400" y="4953000"/>
            <a:ext cx="7061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559800" y="5207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5207000"/>
            <a:ext cx="5892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5200" y="5740400"/>
            <a:ext cx="6451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tools often lack support for local dialects like Gujarati and Hindi, excluding a large segment of farmers from technology-driven solutions.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08425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 / 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79766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AgriCare: A Multilingual Platform for the Modern Farmer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970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59000"/>
            <a:ext cx="6858000" cy="6316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904160"/>
            <a:ext cx="62484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AgriCare is a 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digital platform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provides data-driven agricultural advisory, market transparency, and AI-powered diagnostic tools tailored for the regional needs of Gujarat.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Bridges traditional farming with modern AI-driven insights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Boosts productivity and sustainability for smallholder farmers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Designed for farmers, agricultural administrators, and local vendors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Supports Gujarati, Hindi, and English interfaces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0" y="1397000"/>
            <a:ext cx="0" cy="6950619"/>
          </a:xfrm>
          <a:prstGeom prst="straightConnector1">
            <a:avLst/>
          </a:prstGeom>
          <a:noFill/>
          <a:ln w="127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8534400" y="15748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Vision</a:t>
            </a:r>
            <a:endParaRPr lang="en-US" sz="1600" dirty="0"/>
          </a:p>
        </p:txBody>
      </p:sp>
      <p:pic>
        <p:nvPicPr>
          <p:cNvPr id="9" name="Image 0" descr="https://kimi-img.moonshot.cn/pub/slides/okc/7xetwg4mupbjm/mnt/agents/output/agricare/images/2_Mobile_App_for_Farmers_Features_That.png">    </p:cNvPr>
          <p:cNvPicPr>
            <a:picLocks noChangeAspect="1"/>
          </p:cNvPicPr>
          <p:nvPr/>
        </p:nvPicPr>
        <p:blipFill>
          <a:blip r:embed="rId1"/>
          <a:srcRect l="11641" r="11641" t="0" b="0"/>
          <a:stretch/>
        </p:blipFill>
        <p:spPr>
          <a:xfrm>
            <a:off x="8534400" y="2159000"/>
            <a:ext cx="7249525" cy="6316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22459" y="8650033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/ AI Disease Detection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Disease Detection: Instant Diagnosis, Actionable Remedies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270000"/>
            <a:ext cx="8128000" cy="787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24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Snap a photo of the affected crop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10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Keras deep learning model identifies the disease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334000"/>
            <a:ext cx="660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6096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remedies and pesticide recommendations from local shops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6858000"/>
            <a:ext cx="1016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14400" y="7112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70AD4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a custom-trained TensorFlow/Keras model for high-accuracy plant disease classification across major Gujarat crops.</a:t>
            </a:r>
            <a:endParaRPr lang="en-US" sz="1600" dirty="0"/>
          </a:p>
        </p:txBody>
      </p:sp>
      <p:pic>
        <p:nvPicPr>
          <p:cNvPr id="14" name="Image 0" descr="https://kimi-img.moonshot.cn/pub/slides/okc/7xetwg4mupbjm/mnt/agents/output/agricare/images/3_Plant_Disease_Detection_Using_Image.png">    </p:cNvPr>
          <p:cNvPicPr>
            <a:picLocks noChangeAspect="1"/>
          </p:cNvPicPr>
          <p:nvPr/>
        </p:nvPicPr>
        <p:blipFill>
          <a:blip r:embed="rId1"/>
          <a:srcRect l="21848" r="21848" t="0" b="0"/>
          <a:stretch/>
        </p:blipFill>
        <p:spPr>
          <a:xfrm>
            <a:off x="8128000" y="1270000"/>
            <a:ext cx="8128000" cy="78740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28000" y="1270000"/>
            <a:ext cx="8128000" cy="7874000"/>
          </a:xfrm>
          <a:prstGeom prst="rect">
            <a:avLst/>
          </a:prstGeom>
          <a:gradFill rotWithShape="1" flip="none">
            <a:gsLst>
              <a:gs pos="0">
                <a:srgbClr val="1A3632"/>
              </a:gs>
              <a:gs pos="15000">
                <a:srgbClr val="1A3632">
                  <a:alpha val="0"/>
                </a:srgbClr>
              </a:gs>
              <a:gs pos="100000">
                <a:srgbClr val="1A3632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6" name="Text 13"/>
          <p:cNvSpPr/>
          <p:nvPr/>
        </p:nvSpPr>
        <p:spPr>
          <a:xfrm>
            <a:off x="15250525" y="8537768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31D3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/ Market &amp; Weather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Connect &amp; Weather Intelligence for Fair Trade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6858000" cy="7435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651000"/>
            <a:ext cx="563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9200" y="22098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19200" y="2828662"/>
            <a:ext cx="6248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tracking of crop prices across Gujarat Mandis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fair trade and eliminates middleman exploitation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Price alerts and trend analysis for major commodities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data to inform selling decisions</a:t>
            </a:r>
            <a:endParaRPr lang="en-US" sz="1600" dirty="0"/>
          </a:p>
        </p:txBody>
      </p:sp>
      <p:pic>
        <p:nvPicPr>
          <p:cNvPr id="9" name="Image 0" descr="https://kimi-img.moonshot.cn/pub/slides/okc/7xetwg4mupbjm/mnt/agents/output/agricare/images/7_Field_notes_Visit_to_the_Azadpur.png">    </p:cNvPr>
          <p:cNvPicPr>
            <a:picLocks noChangeAspect="1"/>
          </p:cNvPicPr>
          <p:nvPr/>
        </p:nvPicPr>
        <p:blipFill>
          <a:blip r:embed="rId1"/>
          <a:srcRect l="0" r="0" t="24337" b="24337"/>
          <a:stretch/>
        </p:blipFill>
        <p:spPr>
          <a:xfrm>
            <a:off x="1219200" y="6096000"/>
            <a:ext cx="6248400" cy="254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80400" y="1397000"/>
            <a:ext cx="7061200" cy="7435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556625" y="165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0748" y="-2857"/>
                </a:moveTo>
                <a:cubicBezTo>
                  <a:pt x="269766" y="-7501"/>
                  <a:pt x="266640" y="-11341"/>
                  <a:pt x="262265" y="-13216"/>
                </a:cubicBezTo>
                <a:cubicBezTo>
                  <a:pt x="257889" y="-15091"/>
                  <a:pt x="252889" y="-14555"/>
                  <a:pt x="248960" y="-11966"/>
                </a:cubicBezTo>
                <a:lnTo>
                  <a:pt x="185738" y="30004"/>
                </a:lnTo>
                <a:lnTo>
                  <a:pt x="122605" y="-11876"/>
                </a:lnTo>
                <a:cubicBezTo>
                  <a:pt x="118676" y="-14466"/>
                  <a:pt x="113675" y="-15002"/>
                  <a:pt x="109299" y="-13127"/>
                </a:cubicBezTo>
                <a:cubicBezTo>
                  <a:pt x="104924" y="-11251"/>
                  <a:pt x="101709" y="-7412"/>
                  <a:pt x="100816" y="-2768"/>
                </a:cubicBezTo>
                <a:lnTo>
                  <a:pt x="85725" y="71438"/>
                </a:lnTo>
                <a:lnTo>
                  <a:pt x="11430" y="86439"/>
                </a:lnTo>
                <a:cubicBezTo>
                  <a:pt x="6787" y="87422"/>
                  <a:pt x="2947" y="90547"/>
                  <a:pt x="1072" y="94923"/>
                </a:cubicBezTo>
                <a:cubicBezTo>
                  <a:pt x="-804" y="99298"/>
                  <a:pt x="-268" y="104299"/>
                  <a:pt x="2322" y="108228"/>
                </a:cubicBezTo>
                <a:lnTo>
                  <a:pt x="44291" y="171450"/>
                </a:lnTo>
                <a:lnTo>
                  <a:pt x="2411" y="234583"/>
                </a:lnTo>
                <a:cubicBezTo>
                  <a:pt x="-179" y="238512"/>
                  <a:pt x="-714" y="243513"/>
                  <a:pt x="1161" y="247888"/>
                </a:cubicBezTo>
                <a:cubicBezTo>
                  <a:pt x="3036" y="252264"/>
                  <a:pt x="6876" y="255478"/>
                  <a:pt x="11519" y="256371"/>
                </a:cubicBezTo>
                <a:lnTo>
                  <a:pt x="85725" y="271463"/>
                </a:lnTo>
                <a:lnTo>
                  <a:pt x="100727" y="345758"/>
                </a:lnTo>
                <a:cubicBezTo>
                  <a:pt x="101709" y="350401"/>
                  <a:pt x="104835" y="354241"/>
                  <a:pt x="109210" y="356116"/>
                </a:cubicBezTo>
                <a:cubicBezTo>
                  <a:pt x="113586" y="357991"/>
                  <a:pt x="118586" y="357455"/>
                  <a:pt x="122515" y="354866"/>
                </a:cubicBezTo>
                <a:lnTo>
                  <a:pt x="182612" y="315039"/>
                </a:lnTo>
                <a:cubicBezTo>
                  <a:pt x="168503" y="297716"/>
                  <a:pt x="159395" y="276195"/>
                  <a:pt x="157430" y="252621"/>
                </a:cubicBezTo>
                <a:cubicBezTo>
                  <a:pt x="123944" y="240923"/>
                  <a:pt x="99923" y="209133"/>
                  <a:pt x="99923" y="171629"/>
                </a:cubicBezTo>
                <a:cubicBezTo>
                  <a:pt x="99923" y="124301"/>
                  <a:pt x="138321" y="85904"/>
                  <a:pt x="185648" y="85904"/>
                </a:cubicBezTo>
                <a:cubicBezTo>
                  <a:pt x="205026" y="85904"/>
                  <a:pt x="222974" y="92333"/>
                  <a:pt x="237262" y="103227"/>
                </a:cubicBezTo>
                <a:cubicBezTo>
                  <a:pt x="251103" y="87511"/>
                  <a:pt x="270212" y="76438"/>
                  <a:pt x="291822" y="72866"/>
                </a:cubicBezTo>
                <a:lnTo>
                  <a:pt x="285750" y="71438"/>
                </a:lnTo>
                <a:lnTo>
                  <a:pt x="270748" y="-2857"/>
                </a:lnTo>
                <a:close/>
                <a:moveTo>
                  <a:pt x="216991" y="142071"/>
                </a:moveTo>
                <a:cubicBezTo>
                  <a:pt x="209133" y="133767"/>
                  <a:pt x="198060" y="128588"/>
                  <a:pt x="185738" y="128588"/>
                </a:cubicBezTo>
                <a:cubicBezTo>
                  <a:pt x="162074" y="128588"/>
                  <a:pt x="142875" y="147786"/>
                  <a:pt x="142875" y="171450"/>
                </a:cubicBezTo>
                <a:cubicBezTo>
                  <a:pt x="142875" y="186630"/>
                  <a:pt x="150822" y="200025"/>
                  <a:pt x="162699" y="207615"/>
                </a:cubicBezTo>
                <a:cubicBezTo>
                  <a:pt x="171807" y="179576"/>
                  <a:pt x="191363" y="156359"/>
                  <a:pt x="216902" y="142429"/>
                </a:cubicBezTo>
                <a:lnTo>
                  <a:pt x="216991" y="142071"/>
                </a:lnTo>
                <a:close/>
                <a:moveTo>
                  <a:pt x="271463" y="314325"/>
                </a:moveTo>
                <a:lnTo>
                  <a:pt x="442913" y="314325"/>
                </a:lnTo>
                <a:cubicBezTo>
                  <a:pt x="482382" y="314325"/>
                  <a:pt x="514350" y="282357"/>
                  <a:pt x="514350" y="242888"/>
                </a:cubicBezTo>
                <a:cubicBezTo>
                  <a:pt x="514350" y="212616"/>
                  <a:pt x="495508" y="186720"/>
                  <a:pt x="468898" y="176361"/>
                </a:cubicBezTo>
                <a:cubicBezTo>
                  <a:pt x="470595" y="170289"/>
                  <a:pt x="471488" y="163860"/>
                  <a:pt x="471488" y="157163"/>
                </a:cubicBezTo>
                <a:cubicBezTo>
                  <a:pt x="471488" y="117693"/>
                  <a:pt x="439519" y="85725"/>
                  <a:pt x="400050" y="85725"/>
                </a:cubicBezTo>
                <a:cubicBezTo>
                  <a:pt x="372547" y="85725"/>
                  <a:pt x="348704" y="101263"/>
                  <a:pt x="336739" y="123944"/>
                </a:cubicBezTo>
                <a:cubicBezTo>
                  <a:pt x="328434" y="117872"/>
                  <a:pt x="318254" y="114300"/>
                  <a:pt x="307181" y="114300"/>
                </a:cubicBezTo>
                <a:cubicBezTo>
                  <a:pt x="279589" y="114300"/>
                  <a:pt x="257175" y="136714"/>
                  <a:pt x="257175" y="164306"/>
                </a:cubicBezTo>
                <a:cubicBezTo>
                  <a:pt x="257175" y="167164"/>
                  <a:pt x="257443" y="170021"/>
                  <a:pt x="257889" y="172700"/>
                </a:cubicBezTo>
                <a:cubicBezTo>
                  <a:pt x="224939" y="179040"/>
                  <a:pt x="200025" y="208062"/>
                  <a:pt x="200025" y="242888"/>
                </a:cubicBezTo>
                <a:cubicBezTo>
                  <a:pt x="200025" y="282357"/>
                  <a:pt x="231993" y="314325"/>
                  <a:pt x="271463" y="314325"/>
                </a:cubicBezTo>
                <a:close/>
                <a:moveTo>
                  <a:pt x="254496" y="358170"/>
                </a:moveTo>
                <a:cubicBezTo>
                  <a:pt x="243245" y="354419"/>
                  <a:pt x="231100" y="360491"/>
                  <a:pt x="227350" y="371743"/>
                </a:cubicBezTo>
                <a:lnTo>
                  <a:pt x="208240" y="428982"/>
                </a:lnTo>
                <a:cubicBezTo>
                  <a:pt x="204490" y="440234"/>
                  <a:pt x="210562" y="452378"/>
                  <a:pt x="221813" y="456128"/>
                </a:cubicBezTo>
                <a:cubicBezTo>
                  <a:pt x="233065" y="459879"/>
                  <a:pt x="245209" y="453807"/>
                  <a:pt x="248960" y="442555"/>
                </a:cubicBezTo>
                <a:lnTo>
                  <a:pt x="268069" y="385316"/>
                </a:lnTo>
                <a:cubicBezTo>
                  <a:pt x="271820" y="374065"/>
                  <a:pt x="265747" y="361920"/>
                  <a:pt x="254496" y="358170"/>
                </a:cubicBezTo>
                <a:close/>
                <a:moveTo>
                  <a:pt x="361652" y="358170"/>
                </a:moveTo>
                <a:cubicBezTo>
                  <a:pt x="350401" y="354419"/>
                  <a:pt x="338257" y="360491"/>
                  <a:pt x="334506" y="371743"/>
                </a:cubicBezTo>
                <a:lnTo>
                  <a:pt x="315397" y="428982"/>
                </a:lnTo>
                <a:cubicBezTo>
                  <a:pt x="311646" y="440234"/>
                  <a:pt x="317718" y="452378"/>
                  <a:pt x="328970" y="456128"/>
                </a:cubicBezTo>
                <a:cubicBezTo>
                  <a:pt x="340221" y="459879"/>
                  <a:pt x="352365" y="453807"/>
                  <a:pt x="356116" y="442555"/>
                </a:cubicBezTo>
                <a:lnTo>
                  <a:pt x="375225" y="385316"/>
                </a:lnTo>
                <a:cubicBezTo>
                  <a:pt x="378976" y="374065"/>
                  <a:pt x="372904" y="361920"/>
                  <a:pt x="361652" y="358170"/>
                </a:cubicBezTo>
                <a:close/>
                <a:moveTo>
                  <a:pt x="468809" y="358170"/>
                </a:moveTo>
                <a:cubicBezTo>
                  <a:pt x="457557" y="354419"/>
                  <a:pt x="445413" y="360491"/>
                  <a:pt x="441662" y="371743"/>
                </a:cubicBezTo>
                <a:lnTo>
                  <a:pt x="422553" y="428982"/>
                </a:lnTo>
                <a:cubicBezTo>
                  <a:pt x="418802" y="440234"/>
                  <a:pt x="424875" y="452378"/>
                  <a:pt x="436126" y="456128"/>
                </a:cubicBezTo>
                <a:cubicBezTo>
                  <a:pt x="447377" y="459879"/>
                  <a:pt x="459522" y="453807"/>
                  <a:pt x="463272" y="442555"/>
                </a:cubicBezTo>
                <a:lnTo>
                  <a:pt x="482382" y="385316"/>
                </a:lnTo>
                <a:cubicBezTo>
                  <a:pt x="486132" y="374065"/>
                  <a:pt x="480060" y="361920"/>
                  <a:pt x="468809" y="35817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9194800" y="16510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Station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85200" y="22098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8585200" y="2463800"/>
            <a:ext cx="64516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Hyper-local weather forecasts for every district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Alerts for rainfall, drought, and extreme events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Planning support for sowing and harvesting cycles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Integrated with IMD data for accuracy</a:t>
            </a:r>
            <a:endParaRPr lang="en-US" sz="1600" dirty="0"/>
          </a:p>
        </p:txBody>
      </p:sp>
      <p:pic>
        <p:nvPicPr>
          <p:cNvPr id="15" name="Image 1" descr="https://kimi-img.moonshot.cn/pub/slides/okc/7xetwg4mupbjm/mnt/agents/output/agricare/images/5_Sustainable_Agriculture_Practices.png">    </p:cNvPr>
          <p:cNvPicPr>
            <a:picLocks noChangeAspect="1"/>
          </p:cNvPicPr>
          <p:nvPr/>
        </p:nvPicPr>
        <p:blipFill>
          <a:blip r:embed="rId2"/>
          <a:srcRect l="0" r="0" t="10630" b="10630"/>
          <a:stretch/>
        </p:blipFill>
        <p:spPr>
          <a:xfrm>
            <a:off x="8585200" y="6096000"/>
            <a:ext cx="6451600" cy="2540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22459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/ Crop Calendar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Crop Calendar: District-Aware Advisory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270000"/>
            <a:ext cx="144272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371600"/>
            <a:ext cx="1381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Location-aware advisory system delivering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guidance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soil preparation to post-harvest management, validated via India Post API.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40000"/>
            <a:ext cx="4572000" cy="5588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794000"/>
            <a:ext cx="396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33528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Pre-Sowing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3860800"/>
            <a:ext cx="3962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Soil testing recommendations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Seed selection guidance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Fertilizer planning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Optimal sowing dates based on weather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540000"/>
            <a:ext cx="4572000" cy="5588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2794000"/>
            <a:ext cx="396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6800" y="33528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Growing Season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46800" y="3860800"/>
            <a:ext cx="3962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Irrigation scheduling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Pest and disease monitoring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Nutrient management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Growth stage tracking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69600" y="2540000"/>
            <a:ext cx="4572000" cy="5588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2794000"/>
            <a:ext cx="396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74400" y="33528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Post-Harvest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74400" y="3860800"/>
            <a:ext cx="3962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Harvest timing optimization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Storage best practices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Market linkage for best prices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Crop rotation planning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341600" y="8579867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 / Government Support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 Subsidies &amp; Support Made Accessible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4572000" cy="660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14450" y="1651000"/>
            <a:ext cx="317500" cy="508000"/>
          </a:xfrm>
          <a:custGeom>
            <a:avLst/>
            <a:gdLst/>
            <a:ahLst/>
            <a:cxnLst/>
            <a:rect l="l" t="t" r="r" b="b"/>
            <a:pathLst>
              <a:path w="317500" h="508000">
                <a:moveTo>
                  <a:pt x="0" y="63500"/>
                </a:moveTo>
                <a:cubicBezTo>
                  <a:pt x="0" y="45938"/>
                  <a:pt x="14188" y="31750"/>
                  <a:pt x="31750" y="31750"/>
                </a:cubicBezTo>
                <a:lnTo>
                  <a:pt x="293688" y="31750"/>
                </a:lnTo>
                <a:cubicBezTo>
                  <a:pt x="306884" y="31750"/>
                  <a:pt x="317500" y="42366"/>
                  <a:pt x="317500" y="55563"/>
                </a:cubicBezTo>
                <a:cubicBezTo>
                  <a:pt x="317500" y="68759"/>
                  <a:pt x="306884" y="79375"/>
                  <a:pt x="293688" y="79375"/>
                </a:cubicBezTo>
                <a:lnTo>
                  <a:pt x="217587" y="79375"/>
                </a:lnTo>
                <a:cubicBezTo>
                  <a:pt x="235148" y="99020"/>
                  <a:pt x="247452" y="123627"/>
                  <a:pt x="252016" y="150813"/>
                </a:cubicBezTo>
                <a:lnTo>
                  <a:pt x="293688" y="150813"/>
                </a:lnTo>
                <a:cubicBezTo>
                  <a:pt x="306884" y="150813"/>
                  <a:pt x="317500" y="161429"/>
                  <a:pt x="317500" y="174625"/>
                </a:cubicBezTo>
                <a:cubicBezTo>
                  <a:pt x="317500" y="187821"/>
                  <a:pt x="306884" y="198438"/>
                  <a:pt x="293688" y="198438"/>
                </a:cubicBezTo>
                <a:lnTo>
                  <a:pt x="252016" y="198438"/>
                </a:lnTo>
                <a:cubicBezTo>
                  <a:pt x="241697" y="260152"/>
                  <a:pt x="191691" y="308471"/>
                  <a:pt x="129183" y="316409"/>
                </a:cubicBezTo>
                <a:lnTo>
                  <a:pt x="272455" y="418703"/>
                </a:lnTo>
                <a:cubicBezTo>
                  <a:pt x="286742" y="428923"/>
                  <a:pt x="290016" y="448766"/>
                  <a:pt x="279797" y="462955"/>
                </a:cubicBezTo>
                <a:cubicBezTo>
                  <a:pt x="269577" y="477143"/>
                  <a:pt x="249734" y="480516"/>
                  <a:pt x="235545" y="470297"/>
                </a:cubicBezTo>
                <a:lnTo>
                  <a:pt x="13295" y="311547"/>
                </a:lnTo>
                <a:cubicBezTo>
                  <a:pt x="2084" y="303609"/>
                  <a:pt x="-2679" y="289223"/>
                  <a:pt x="1488" y="276027"/>
                </a:cubicBezTo>
                <a:cubicBezTo>
                  <a:pt x="5655" y="262830"/>
                  <a:pt x="17959" y="254000"/>
                  <a:pt x="31750" y="254000"/>
                </a:cubicBezTo>
                <a:lnTo>
                  <a:pt x="111125" y="254000"/>
                </a:lnTo>
                <a:cubicBezTo>
                  <a:pt x="146645" y="254000"/>
                  <a:pt x="176709" y="230684"/>
                  <a:pt x="186829" y="198438"/>
                </a:cubicBezTo>
                <a:lnTo>
                  <a:pt x="23812" y="198438"/>
                </a:lnTo>
                <a:cubicBezTo>
                  <a:pt x="10616" y="198438"/>
                  <a:pt x="0" y="187821"/>
                  <a:pt x="0" y="174625"/>
                </a:cubicBezTo>
                <a:cubicBezTo>
                  <a:pt x="0" y="161429"/>
                  <a:pt x="10616" y="150813"/>
                  <a:pt x="23812" y="150813"/>
                </a:cubicBezTo>
                <a:lnTo>
                  <a:pt x="186829" y="150813"/>
                </a:lnTo>
                <a:cubicBezTo>
                  <a:pt x="176709" y="118566"/>
                  <a:pt x="146645" y="95250"/>
                  <a:pt x="111125" y="95250"/>
                </a:cubicBezTo>
                <a:lnTo>
                  <a:pt x="31750" y="95250"/>
                </a:lnTo>
                <a:cubicBezTo>
                  <a:pt x="14188" y="95250"/>
                  <a:pt x="0" y="81062"/>
                  <a:pt x="0" y="635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286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Subsidies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9200" y="2743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19200" y="2997200"/>
            <a:ext cx="396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Crop insurance schemes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Interest subvention on farm loans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 benefit transfers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Disaster relief funds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Eligibility criteria in local language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1397000"/>
            <a:ext cx="4572000" cy="660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115050" y="165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58750" y="95250"/>
                </a:moveTo>
                <a:lnTo>
                  <a:pt x="158750" y="190500"/>
                </a:lnTo>
                <a:lnTo>
                  <a:pt x="291108" y="190500"/>
                </a:lnTo>
                <a:lnTo>
                  <a:pt x="233958" y="95250"/>
                </a:lnTo>
                <a:lnTo>
                  <a:pt x="158750" y="95250"/>
                </a:lnTo>
                <a:close/>
                <a:moveTo>
                  <a:pt x="95250" y="221258"/>
                </a:moveTo>
                <a:lnTo>
                  <a:pt x="95250" y="63500"/>
                </a:lnTo>
                <a:cubicBezTo>
                  <a:pt x="95250" y="45938"/>
                  <a:pt x="109438" y="31750"/>
                  <a:pt x="127000" y="31750"/>
                </a:cubicBezTo>
                <a:lnTo>
                  <a:pt x="233958" y="31750"/>
                </a:lnTo>
                <a:cubicBezTo>
                  <a:pt x="256282" y="31750"/>
                  <a:pt x="276920" y="43458"/>
                  <a:pt x="288429" y="62607"/>
                </a:cubicBezTo>
                <a:lnTo>
                  <a:pt x="365224" y="190500"/>
                </a:lnTo>
                <a:lnTo>
                  <a:pt x="428724" y="190500"/>
                </a:lnTo>
                <a:lnTo>
                  <a:pt x="428724" y="119063"/>
                </a:lnTo>
                <a:cubicBezTo>
                  <a:pt x="428724" y="105866"/>
                  <a:pt x="439341" y="95250"/>
                  <a:pt x="452537" y="95250"/>
                </a:cubicBezTo>
                <a:cubicBezTo>
                  <a:pt x="465733" y="95250"/>
                  <a:pt x="476349" y="105866"/>
                  <a:pt x="476349" y="119063"/>
                </a:cubicBezTo>
                <a:lnTo>
                  <a:pt x="476349" y="190500"/>
                </a:lnTo>
                <a:lnTo>
                  <a:pt x="523974" y="190500"/>
                </a:lnTo>
                <a:cubicBezTo>
                  <a:pt x="550267" y="190500"/>
                  <a:pt x="571599" y="211832"/>
                  <a:pt x="571599" y="238125"/>
                </a:cubicBezTo>
                <a:lnTo>
                  <a:pt x="571599" y="279301"/>
                </a:lnTo>
                <a:cubicBezTo>
                  <a:pt x="571599" y="293390"/>
                  <a:pt x="565348" y="306884"/>
                  <a:pt x="554434" y="315912"/>
                </a:cubicBezTo>
                <a:lnTo>
                  <a:pt x="519708" y="344884"/>
                </a:lnTo>
                <a:cubicBezTo>
                  <a:pt x="546001" y="359966"/>
                  <a:pt x="563662" y="388243"/>
                  <a:pt x="563662" y="420688"/>
                </a:cubicBezTo>
                <a:cubicBezTo>
                  <a:pt x="563662" y="468908"/>
                  <a:pt x="524570" y="508000"/>
                  <a:pt x="476349" y="508000"/>
                </a:cubicBezTo>
                <a:cubicBezTo>
                  <a:pt x="428129" y="508000"/>
                  <a:pt x="389037" y="468908"/>
                  <a:pt x="389037" y="420688"/>
                </a:cubicBezTo>
                <a:cubicBezTo>
                  <a:pt x="389037" y="406400"/>
                  <a:pt x="392509" y="392906"/>
                  <a:pt x="398562" y="381000"/>
                </a:cubicBezTo>
                <a:lnTo>
                  <a:pt x="298152" y="381000"/>
                </a:lnTo>
                <a:cubicBezTo>
                  <a:pt x="295176" y="394295"/>
                  <a:pt x="290314" y="406797"/>
                  <a:pt x="283865" y="418405"/>
                </a:cubicBezTo>
                <a:cubicBezTo>
                  <a:pt x="291505" y="427732"/>
                  <a:pt x="291009" y="441623"/>
                  <a:pt x="282277" y="450354"/>
                </a:cubicBezTo>
                <a:lnTo>
                  <a:pt x="259854" y="472777"/>
                </a:lnTo>
                <a:cubicBezTo>
                  <a:pt x="251123" y="481509"/>
                  <a:pt x="237331" y="482005"/>
                  <a:pt x="227905" y="474365"/>
                </a:cubicBezTo>
                <a:cubicBezTo>
                  <a:pt x="218678" y="479524"/>
                  <a:pt x="208756" y="483592"/>
                  <a:pt x="198338" y="486569"/>
                </a:cubicBezTo>
                <a:cubicBezTo>
                  <a:pt x="197148" y="498574"/>
                  <a:pt x="187027" y="508000"/>
                  <a:pt x="174625" y="508000"/>
                </a:cubicBezTo>
                <a:lnTo>
                  <a:pt x="142875" y="508000"/>
                </a:lnTo>
                <a:cubicBezTo>
                  <a:pt x="130572" y="508000"/>
                  <a:pt x="120352" y="498574"/>
                  <a:pt x="119162" y="486569"/>
                </a:cubicBezTo>
                <a:cubicBezTo>
                  <a:pt x="108744" y="483592"/>
                  <a:pt x="98921" y="479425"/>
                  <a:pt x="89595" y="474365"/>
                </a:cubicBezTo>
                <a:cubicBezTo>
                  <a:pt x="80268" y="482005"/>
                  <a:pt x="66377" y="481509"/>
                  <a:pt x="57646" y="472777"/>
                </a:cubicBezTo>
                <a:lnTo>
                  <a:pt x="35223" y="450255"/>
                </a:lnTo>
                <a:cubicBezTo>
                  <a:pt x="26491" y="441523"/>
                  <a:pt x="25995" y="427732"/>
                  <a:pt x="33635" y="418306"/>
                </a:cubicBezTo>
                <a:cubicBezTo>
                  <a:pt x="28476" y="409079"/>
                  <a:pt x="24408" y="399157"/>
                  <a:pt x="21431" y="388739"/>
                </a:cubicBezTo>
                <a:cubicBezTo>
                  <a:pt x="9426" y="387548"/>
                  <a:pt x="0" y="377428"/>
                  <a:pt x="0" y="365026"/>
                </a:cubicBezTo>
                <a:lnTo>
                  <a:pt x="0" y="333276"/>
                </a:lnTo>
                <a:cubicBezTo>
                  <a:pt x="0" y="320973"/>
                  <a:pt x="9426" y="310753"/>
                  <a:pt x="21431" y="309563"/>
                </a:cubicBezTo>
                <a:cubicBezTo>
                  <a:pt x="24408" y="299145"/>
                  <a:pt x="28575" y="289322"/>
                  <a:pt x="33635" y="279995"/>
                </a:cubicBezTo>
                <a:cubicBezTo>
                  <a:pt x="25995" y="270669"/>
                  <a:pt x="26491" y="256778"/>
                  <a:pt x="35223" y="248047"/>
                </a:cubicBezTo>
                <a:lnTo>
                  <a:pt x="57646" y="225623"/>
                </a:lnTo>
                <a:cubicBezTo>
                  <a:pt x="66377" y="216892"/>
                  <a:pt x="80169" y="216396"/>
                  <a:pt x="89595" y="224036"/>
                </a:cubicBezTo>
                <a:cubicBezTo>
                  <a:pt x="91480" y="223044"/>
                  <a:pt x="93266" y="222052"/>
                  <a:pt x="95250" y="221059"/>
                </a:cubicBezTo>
                <a:close/>
                <a:moveTo>
                  <a:pt x="158750" y="285750"/>
                </a:moveTo>
                <a:cubicBezTo>
                  <a:pt x="123703" y="285750"/>
                  <a:pt x="95250" y="314203"/>
                  <a:pt x="95250" y="349250"/>
                </a:cubicBezTo>
                <a:cubicBezTo>
                  <a:pt x="95250" y="384297"/>
                  <a:pt x="123703" y="412750"/>
                  <a:pt x="158750" y="412750"/>
                </a:cubicBezTo>
                <a:cubicBezTo>
                  <a:pt x="193797" y="412750"/>
                  <a:pt x="222250" y="384297"/>
                  <a:pt x="222250" y="349250"/>
                </a:cubicBezTo>
                <a:cubicBezTo>
                  <a:pt x="222250" y="314203"/>
                  <a:pt x="193797" y="285750"/>
                  <a:pt x="158750" y="285750"/>
                </a:cubicBezTo>
                <a:close/>
                <a:moveTo>
                  <a:pt x="436563" y="420688"/>
                </a:moveTo>
                <a:cubicBezTo>
                  <a:pt x="436563" y="442592"/>
                  <a:pt x="454346" y="460375"/>
                  <a:pt x="476250" y="460375"/>
                </a:cubicBezTo>
                <a:cubicBezTo>
                  <a:pt x="498154" y="460375"/>
                  <a:pt x="515938" y="442592"/>
                  <a:pt x="515938" y="420688"/>
                </a:cubicBezTo>
                <a:cubicBezTo>
                  <a:pt x="515938" y="398783"/>
                  <a:pt x="498154" y="381000"/>
                  <a:pt x="476250" y="381000"/>
                </a:cubicBezTo>
                <a:cubicBezTo>
                  <a:pt x="454346" y="381000"/>
                  <a:pt x="436563" y="398783"/>
                  <a:pt x="436563" y="4206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2286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Equipment Subsidies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46800" y="2743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146800" y="2997200"/>
            <a:ext cx="3962400" cy="4193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Subsidized farm machinery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Irrigation equipment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Solar pump installations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Cold storage facilities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 process guidance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69600" y="1397000"/>
            <a:ext cx="4572000" cy="660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44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31750"/>
                </a:moveTo>
                <a:cubicBezTo>
                  <a:pt x="508000" y="139005"/>
                  <a:pt x="431998" y="228501"/>
                  <a:pt x="330994" y="249436"/>
                </a:cubicBezTo>
                <a:cubicBezTo>
                  <a:pt x="323155" y="191790"/>
                  <a:pt x="297259" y="139898"/>
                  <a:pt x="259060" y="99715"/>
                </a:cubicBezTo>
                <a:cubicBezTo>
                  <a:pt x="298847" y="39688"/>
                  <a:pt x="367010" y="0"/>
                  <a:pt x="444500" y="0"/>
                </a:cubicBezTo>
                <a:lnTo>
                  <a:pt x="476250" y="0"/>
                </a:lnTo>
                <a:cubicBezTo>
                  <a:pt x="493812" y="0"/>
                  <a:pt x="508000" y="14188"/>
                  <a:pt x="508000" y="31750"/>
                </a:cubicBezTo>
                <a:close/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63500" y="63500"/>
                </a:lnTo>
                <a:cubicBezTo>
                  <a:pt x="186234" y="63500"/>
                  <a:pt x="285750" y="163016"/>
                  <a:pt x="285750" y="285750"/>
                </a:cubicBezTo>
                <a:lnTo>
                  <a:pt x="285750" y="476250"/>
                </a:lnTo>
                <a:cubicBezTo>
                  <a:pt x="285750" y="493812"/>
                  <a:pt x="271562" y="508000"/>
                  <a:pt x="254000" y="508000"/>
                </a:cubicBezTo>
                <a:cubicBezTo>
                  <a:pt x="236438" y="508000"/>
                  <a:pt x="222250" y="493812"/>
                  <a:pt x="222250" y="476250"/>
                </a:cubicBezTo>
                <a:lnTo>
                  <a:pt x="222250" y="317500"/>
                </a:lnTo>
                <a:cubicBezTo>
                  <a:pt x="99516" y="317500"/>
                  <a:pt x="0" y="217984"/>
                  <a:pt x="0" y="95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1074400" y="2286000"/>
            <a:ext cx="396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 Subsidies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074400" y="27432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1074400" y="2744603"/>
            <a:ext cx="396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High-yield variety seeds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Organic seed programs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Seed replacement schemes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Quality certification info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 links to apply online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38260" y="8593901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&amp; Intelligence / AgriBot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AgriBot: 24/7 AI Chat Assistant for Every Farmer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270000"/>
            <a:ext cx="8128000" cy="787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240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23368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Availability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Round-the-clock agricultural support powered by Google Gemini AI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Communicates in English, Gujarati, and Hindi for maximum accessibility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Queries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questions from pest control to financial planning and subsidy guidance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Advice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responses based on crop type, district, and season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270000"/>
            <a:ext cx="8128000" cy="7874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9" name="Shape 7"/>
          <p:cNvSpPr/>
          <p:nvPr/>
        </p:nvSpPr>
        <p:spPr>
          <a:xfrm>
            <a:off x="11239500" y="3048000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905000" h="1524000">
                <a:moveTo>
                  <a:pt x="1047750" y="0"/>
                </a:moveTo>
                <a:cubicBezTo>
                  <a:pt x="1047750" y="-52685"/>
                  <a:pt x="1005185" y="-95250"/>
                  <a:pt x="952500" y="-95250"/>
                </a:cubicBezTo>
                <a:cubicBezTo>
                  <a:pt x="899815" y="-95250"/>
                  <a:pt x="857250" y="-52685"/>
                  <a:pt x="857250" y="0"/>
                </a:cubicBezTo>
                <a:lnTo>
                  <a:pt x="857250" y="190500"/>
                </a:lnTo>
                <a:lnTo>
                  <a:pt x="571500" y="190500"/>
                </a:lnTo>
                <a:cubicBezTo>
                  <a:pt x="413742" y="190500"/>
                  <a:pt x="285750" y="318492"/>
                  <a:pt x="285750" y="476250"/>
                </a:cubicBezTo>
                <a:lnTo>
                  <a:pt x="285750" y="1143000"/>
                </a:lnTo>
                <a:cubicBezTo>
                  <a:pt x="285750" y="1300758"/>
                  <a:pt x="413742" y="1428750"/>
                  <a:pt x="571500" y="1428750"/>
                </a:cubicBezTo>
                <a:lnTo>
                  <a:pt x="1333500" y="1428750"/>
                </a:lnTo>
                <a:cubicBezTo>
                  <a:pt x="1491258" y="1428750"/>
                  <a:pt x="1619250" y="1300758"/>
                  <a:pt x="1619250" y="1143000"/>
                </a:cubicBezTo>
                <a:lnTo>
                  <a:pt x="1619250" y="476250"/>
                </a:lnTo>
                <a:cubicBezTo>
                  <a:pt x="1619250" y="318492"/>
                  <a:pt x="1491258" y="190500"/>
                  <a:pt x="1333500" y="190500"/>
                </a:cubicBezTo>
                <a:lnTo>
                  <a:pt x="1047750" y="190500"/>
                </a:lnTo>
                <a:lnTo>
                  <a:pt x="1047750" y="0"/>
                </a:lnTo>
                <a:close/>
                <a:moveTo>
                  <a:pt x="476250" y="1095375"/>
                </a:moveTo>
                <a:cubicBezTo>
                  <a:pt x="476250" y="1055787"/>
                  <a:pt x="508099" y="1023938"/>
                  <a:pt x="547687" y="1023938"/>
                </a:cubicBezTo>
                <a:lnTo>
                  <a:pt x="642938" y="1023938"/>
                </a:lnTo>
                <a:cubicBezTo>
                  <a:pt x="682526" y="1023938"/>
                  <a:pt x="714375" y="1055787"/>
                  <a:pt x="714375" y="1095375"/>
                </a:cubicBezTo>
                <a:cubicBezTo>
                  <a:pt x="714375" y="1134963"/>
                  <a:pt x="682526" y="1166813"/>
                  <a:pt x="642938" y="1166813"/>
                </a:cubicBezTo>
                <a:lnTo>
                  <a:pt x="547687" y="1166813"/>
                </a:lnTo>
                <a:cubicBezTo>
                  <a:pt x="508099" y="1166813"/>
                  <a:pt x="476250" y="1134963"/>
                  <a:pt x="476250" y="1095375"/>
                </a:cubicBezTo>
                <a:close/>
                <a:moveTo>
                  <a:pt x="833438" y="1095375"/>
                </a:moveTo>
                <a:cubicBezTo>
                  <a:pt x="833438" y="1055787"/>
                  <a:pt x="865287" y="1023938"/>
                  <a:pt x="904875" y="1023938"/>
                </a:cubicBezTo>
                <a:lnTo>
                  <a:pt x="1000125" y="1023938"/>
                </a:lnTo>
                <a:cubicBezTo>
                  <a:pt x="1039713" y="1023938"/>
                  <a:pt x="1071563" y="1055787"/>
                  <a:pt x="1071563" y="1095375"/>
                </a:cubicBezTo>
                <a:cubicBezTo>
                  <a:pt x="1071563" y="1134963"/>
                  <a:pt x="1039713" y="1166813"/>
                  <a:pt x="1000125" y="1166813"/>
                </a:cubicBezTo>
                <a:lnTo>
                  <a:pt x="904875" y="1166813"/>
                </a:lnTo>
                <a:cubicBezTo>
                  <a:pt x="865287" y="1166813"/>
                  <a:pt x="833438" y="1134963"/>
                  <a:pt x="833438" y="1095375"/>
                </a:cubicBezTo>
                <a:close/>
                <a:moveTo>
                  <a:pt x="1190625" y="1095375"/>
                </a:moveTo>
                <a:cubicBezTo>
                  <a:pt x="1190625" y="1055787"/>
                  <a:pt x="1222474" y="1023938"/>
                  <a:pt x="1262063" y="1023938"/>
                </a:cubicBezTo>
                <a:lnTo>
                  <a:pt x="1357313" y="1023938"/>
                </a:lnTo>
                <a:cubicBezTo>
                  <a:pt x="1396901" y="1023938"/>
                  <a:pt x="1428750" y="1055787"/>
                  <a:pt x="1428750" y="1095375"/>
                </a:cubicBezTo>
                <a:cubicBezTo>
                  <a:pt x="1428750" y="1134963"/>
                  <a:pt x="1396901" y="1166813"/>
                  <a:pt x="1357313" y="1166813"/>
                </a:cubicBezTo>
                <a:lnTo>
                  <a:pt x="1262063" y="1166813"/>
                </a:lnTo>
                <a:cubicBezTo>
                  <a:pt x="1222474" y="1166813"/>
                  <a:pt x="1190625" y="1134963"/>
                  <a:pt x="1190625" y="1095375"/>
                </a:cubicBezTo>
                <a:close/>
                <a:moveTo>
                  <a:pt x="666750" y="523875"/>
                </a:moveTo>
                <a:cubicBezTo>
                  <a:pt x="745605" y="523875"/>
                  <a:pt x="809625" y="587895"/>
                  <a:pt x="809625" y="666750"/>
                </a:cubicBezTo>
                <a:cubicBezTo>
                  <a:pt x="809625" y="745605"/>
                  <a:pt x="745605" y="809625"/>
                  <a:pt x="666750" y="809625"/>
                </a:cubicBezTo>
                <a:cubicBezTo>
                  <a:pt x="587895" y="809625"/>
                  <a:pt x="523875" y="745605"/>
                  <a:pt x="523875" y="666750"/>
                </a:cubicBezTo>
                <a:cubicBezTo>
                  <a:pt x="523875" y="587895"/>
                  <a:pt x="587895" y="523875"/>
                  <a:pt x="666750" y="523875"/>
                </a:cubicBezTo>
                <a:close/>
                <a:moveTo>
                  <a:pt x="1095375" y="666750"/>
                </a:moveTo>
                <a:cubicBezTo>
                  <a:pt x="1095375" y="587895"/>
                  <a:pt x="1159395" y="523875"/>
                  <a:pt x="1238250" y="523875"/>
                </a:cubicBezTo>
                <a:cubicBezTo>
                  <a:pt x="1317105" y="523875"/>
                  <a:pt x="1381125" y="587895"/>
                  <a:pt x="1381125" y="666750"/>
                </a:cubicBezTo>
                <a:cubicBezTo>
                  <a:pt x="1381125" y="745605"/>
                  <a:pt x="1317105" y="809625"/>
                  <a:pt x="1238250" y="809625"/>
                </a:cubicBezTo>
                <a:cubicBezTo>
                  <a:pt x="1159395" y="809625"/>
                  <a:pt x="1095375" y="745605"/>
                  <a:pt x="1095375" y="666750"/>
                </a:cubicBezTo>
                <a:close/>
                <a:moveTo>
                  <a:pt x="190500" y="666750"/>
                </a:moveTo>
                <a:cubicBezTo>
                  <a:pt x="190500" y="614065"/>
                  <a:pt x="147935" y="571500"/>
                  <a:pt x="95250" y="571500"/>
                </a:cubicBezTo>
                <a:cubicBezTo>
                  <a:pt x="42565" y="571500"/>
                  <a:pt x="0" y="614065"/>
                  <a:pt x="0" y="666750"/>
                </a:cubicBezTo>
                <a:lnTo>
                  <a:pt x="0" y="952500"/>
                </a:lnTo>
                <a:cubicBezTo>
                  <a:pt x="0" y="1005185"/>
                  <a:pt x="42565" y="1047750"/>
                  <a:pt x="95250" y="1047750"/>
                </a:cubicBezTo>
                <a:cubicBezTo>
                  <a:pt x="147935" y="1047750"/>
                  <a:pt x="190500" y="1005185"/>
                  <a:pt x="190500" y="952500"/>
                </a:cubicBezTo>
                <a:lnTo>
                  <a:pt x="190500" y="666750"/>
                </a:lnTo>
                <a:close/>
                <a:moveTo>
                  <a:pt x="1809750" y="571500"/>
                </a:moveTo>
                <a:cubicBezTo>
                  <a:pt x="1757065" y="571500"/>
                  <a:pt x="1714500" y="614065"/>
                  <a:pt x="1714500" y="666750"/>
                </a:cubicBezTo>
                <a:lnTo>
                  <a:pt x="1714500" y="952500"/>
                </a:lnTo>
                <a:cubicBezTo>
                  <a:pt x="1714500" y="1005185"/>
                  <a:pt x="1757065" y="1047750"/>
                  <a:pt x="1809750" y="1047750"/>
                </a:cubicBezTo>
                <a:cubicBezTo>
                  <a:pt x="1862435" y="1047750"/>
                  <a:pt x="1905000" y="1005185"/>
                  <a:pt x="1905000" y="952500"/>
                </a:cubicBezTo>
                <a:lnTo>
                  <a:pt x="1905000" y="666750"/>
                </a:lnTo>
                <a:cubicBezTo>
                  <a:pt x="1905000" y="614065"/>
                  <a:pt x="1862435" y="571500"/>
                  <a:pt x="1809750" y="571500"/>
                </a:cubicBezTo>
                <a:close/>
              </a:path>
            </a:pathLst>
          </a:custGeom>
          <a:solidFill>
            <a:srgbClr val="1A363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5080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56388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personal AI farming companion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Google Gemini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0" y="6604000"/>
            <a:ext cx="6096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6731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"What pesticide should I use for cotton bollworm?"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7620000"/>
            <a:ext cx="6096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0" y="7747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"When is the best time to sow groundnut in Rajkot?"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0" y="8607934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&amp; Intelligence /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Architecture: Built for Scale and Reliability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97000"/>
            <a:ext cx="3302000" cy="660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336800"/>
            <a:ext cx="269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19200" y="2794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19200" y="2997200"/>
            <a:ext cx="269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HTML5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Tailwind CSS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JavaScript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Responsive UI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Mobile-first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22800" y="1397000"/>
            <a:ext cx="3302000" cy="6604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10" name="Shape 8"/>
          <p:cNvSpPr/>
          <p:nvPr/>
        </p:nvSpPr>
        <p:spPr>
          <a:xfrm>
            <a:off x="4959350" y="165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927600" y="2336800"/>
            <a:ext cx="269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27600" y="2794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927600" y="2997200"/>
            <a:ext cx="269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API management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Server-side logic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RESTful 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Secure endpoints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31200" y="1397000"/>
            <a:ext cx="3302000" cy="6604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15" name="Shape 13"/>
          <p:cNvSpPr/>
          <p:nvPr/>
        </p:nvSpPr>
        <p:spPr>
          <a:xfrm>
            <a:off x="8667750" y="165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2336800"/>
            <a:ext cx="269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2794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636000" y="2997200"/>
            <a:ext cx="269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Supabase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PostgreSQL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sync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 integrity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Scalable storage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39600" y="1397000"/>
            <a:ext cx="3302000" cy="6604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44400" y="165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0" y="2336800"/>
            <a:ext cx="2692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ML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0" y="2794000"/>
            <a:ext cx="508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2344400" y="2997200"/>
            <a:ext cx="2692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TensorFlow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Keras models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Image classification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Gemini API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NLP chatbot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341600" y="8636000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Road Ahead / Future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1442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Roadmap: From Platform to Ecosystem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270000"/>
            <a:ext cx="14427200" cy="15211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1624197"/>
            <a:ext cx="13817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AgriCare is evolving from an advisory platform into a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agricultural ecosystem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2925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connecting farmers, technology, markets, and community.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556000"/>
            <a:ext cx="14427200" cy="0"/>
          </a:xfrm>
          <a:prstGeom prst="straightConnector1">
            <a:avLst/>
          </a:prstGeom>
          <a:noFill/>
          <a:ln w="25400">
            <a:solidFill>
              <a:srgbClr val="1A363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810000"/>
            <a:ext cx="4445000" cy="4318000"/>
          </a:xfrm>
          <a:prstGeom prst="rect">
            <a:avLst/>
          </a:prstGeom>
          <a:solidFill>
            <a:srgbClr val="1A36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75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4114800"/>
            <a:ext cx="4038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48514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Sensors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600" y="4851400"/>
            <a:ext cx="4038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soil health monitoring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Moisture and nutrient sensors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Automated irrigation triggers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Data-driven precision farming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0" y="3810000"/>
            <a:ext cx="4445000" cy="4318000"/>
          </a:xfrm>
          <a:prstGeom prst="rect">
            <a:avLst/>
          </a:prstGeom>
          <a:solidFill>
            <a:srgbClr val="24524B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3175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20965" y="4114800"/>
            <a:ext cx="4038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0965" y="48514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08700" y="4851400"/>
            <a:ext cx="4038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Direct-to-farmer seed sales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Fertilizer and equipment store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Verified supplier network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Competitive pricing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896600" y="3810000"/>
            <a:ext cx="4445000" cy="4318000"/>
          </a:xfrm>
          <a:prstGeom prst="rect">
            <a:avLst/>
          </a:prstGeom>
          <a:solidFill>
            <a:srgbClr val="E1E7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896600" y="3175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98032" y="4114800"/>
            <a:ext cx="4038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36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98032" y="48514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Platform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99800" y="4851400"/>
            <a:ext cx="4038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Share traditional knowledge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Success story showcases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Peer-to-peer learning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36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Farmer networking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36632" y="8579477"/>
            <a:ext cx="711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871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etwg4mupbjm/mnt/agents/output/agricare/images/1_Indian_Farm_Woman_Walks_through_Vast.png">    </p:cNvPr>
          <p:cNvPicPr>
            <a:picLocks noChangeAspect="1"/>
          </p:cNvPicPr>
          <p:nvPr/>
        </p:nvPicPr>
        <p:blipFill>
          <a:blip r:embed="rId1"/>
          <a:srcRect l="0" r="0" t="6731" b="673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A3632">
              <a:alpha val="50196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2496195"/>
            <a:ext cx="1016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Insights. Better Yields. Sustainable Future.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4400" y="3413633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AgriCare</a:t>
            </a:r>
            <a:pPr>
              <a:lnSpc>
                <a:spcPct val="100000"/>
              </a:lnSpc>
            </a:pPr>
            <a:r>
              <a:rPr lang="en-US" sz="2600" dirty="0">
                <a:solidFill>
                  <a:srgbClr val="F4F1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Gujarat's Smart Farming Platform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4076894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traditional farming with modern AI-driven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4726025"/>
            <a:ext cx="3714971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914400" y="5446163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AgriCare · Gujarat's Smart Farming Platform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4F1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farmers with technology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6895800"/>
            <a:ext cx="7620000" cy="1460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Presented By 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24CE080 Garv Patel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24CE088 Mihir Patel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24CE089 Nilay Patel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AgriCare: Empowering the Backbone of Our Nation</dc:title>
  <dc:subject>AgriCare: Empowering the Backbone of Our Nation</dc:subject>
  <dc:creator>Kimi</dc:creator>
  <cp:lastModifiedBy>Kimi</cp:lastModifiedBy>
  <cp:revision>1</cp:revision>
  <dcterms:created xsi:type="dcterms:W3CDTF">2026-05-01T20:23:46Z</dcterms:created>
  <dcterms:modified xsi:type="dcterms:W3CDTF">2026-05-01T20:23:46Z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{"Label":"AgriCare: Empowering the Backbone of Our Nation","ContentProducer":"001191110108MACG2KBH8F10000","ProduceID":"19de5055-fdd2-802e-8000-000053bc9f89","ReservedCode1":"","ContentPropagator":"001191110108MACG2KBH8F20000","PropagateID":"19de5055-fdd2-802e-8000-000053bc9f89","ReservedCode2":""}</vt:lpwstr>
  </property>
</Properties>
</file>